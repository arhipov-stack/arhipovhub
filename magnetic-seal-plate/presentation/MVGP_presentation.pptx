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2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59c1a211-7ec0-8e5b-2f90-52edecbb29c9}">
          <p14:sldIdLst>
            <p14:sldId id="256"/>
            <p14:sldId id="257"/>
            <p14:sldId id="258"/>
            <p14:sldId id="259"/>
          </p14:sldIdLst>
        </p14:section>
        <p14:section name="Анализ" id="{485d5bbf-49c4-eb2f-3aa8-9c5da0a6eb19}">
          <p14:sldIdLst>
            <p14:sldId id="260"/>
            <p14:sldId id="261"/>
          </p14:sldIdLst>
        </p14:section>
        <p14:section name="Решение" id="{cf9b5188-3bb1-7a8e-86f6-bb06c04c6dad}">
          <p14:sldIdLst>
            <p14:sldId id="262"/>
            <p14:sldId id="263"/>
            <p14:sldId id="264"/>
            <p14:sldId id="265"/>
            <p14:sldId id="266"/>
          </p14:sldIdLst>
        </p14:section>
        <p14:section name="Применение" id="{72b882fe-9aa9-ad94-8923-9e1feb90dd53}">
          <p14:sldIdLst>
            <p14:sldId id="267"/>
            <p14:sldId id="268"/>
            <p14:sldId id="272"/>
            <p14:sldId id="273"/>
          </p14:sldIdLst>
        </p14:section>
        <p14:section name="Расчёт" id="{19fde59c-9eda-358d-ad06-aa4aadb603f5}">
          <p14:sldIdLst>
            <p14:sldId id="269"/>
            <p14:sldId id="270"/>
            <p14:sldId id="271"/>
          </p14:sldIdLst>
        </p14:section>
        <p14:section name="Применение" id="{4d7116dc-90df-3fbe-8545-f4d7191c1660}">
          <p14:sldIdLst/>
        </p14:section>
        <p14:section name="Экономика" id="{662decbc-a98d-9fd4-b400-2c5f20a5cceb}">
          <p14:sldIdLst>
            <p14:sldId id="274"/>
            <p14:sldId id="275"/>
            <p14:sldId id="276"/>
          </p14:sldIdLst>
        </p14:section>
        <p14:section name="Итоги" id="{82f76398-ab7f-6698-cfe1-ba5e7f50b2a1}">
          <p14:sldIdLst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РВС / магистраль без изоляции (8,4 кН)</c:v>
                </c:pt>
              </c:strCache>
            </c:strRef>
          </c:tx>
          <c:spPr>
            <a:solidFill>
              <a:srgbClr val="023A84"/>
            </a:solidFill>
            <a:ln w="31750" cap="flat">
              <a:solidFill>
                <a:srgbClr val="023A8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023A84"/>
              </a:solidFill>
              <a:ln w="9525" cap="flat">
                <a:solidFill>
                  <a:srgbClr val="023A8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0,6</c:v>
                  </c:pt>
                  <c:pt idx="1">
                    <c:v>1,0</c:v>
                  </c:pt>
                  <c:pt idx="2">
                    <c:v>1,6</c:v>
                  </c:pt>
                  <c:pt idx="3">
                    <c:v>2,5</c:v>
                  </c:pt>
                  <c:pt idx="4">
                    <c:v>4,0</c:v>
                  </c:pt>
                  <c:pt idx="5">
                    <c:v>6,3</c:v>
                  </c:pt>
                  <c:pt idx="6">
                    <c:v>8,0</c:v>
                  </c:pt>
                  <c:pt idx="7">
                    <c:v>10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80</c:v>
                </c:pt>
                <c:pt idx="1">
                  <c:v>59</c:v>
                </c:pt>
                <c:pt idx="2">
                  <c:v>44</c:v>
                </c:pt>
                <c:pt idx="3">
                  <c:v>33</c:v>
                </c:pt>
                <c:pt idx="4">
                  <c:v>23</c:v>
                </c:pt>
                <c:pt idx="5">
                  <c:v>16</c:v>
                </c:pt>
                <c:pt idx="6">
                  <c:v>13</c:v>
                </c:pt>
                <c:pt idx="7">
                  <c:v>11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Надземная труба, стенка 8 мм (6,3 кН)</c:v>
                </c:pt>
              </c:strCache>
            </c:strRef>
          </c:tx>
          <c:spPr>
            <a:solidFill>
              <a:srgbClr val="3C90DC"/>
            </a:solidFill>
            <a:ln w="31750" cap="flat">
              <a:solidFill>
                <a:srgbClr val="3C90D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3C90DC"/>
              </a:solidFill>
              <a:ln w="9525" cap="flat">
                <a:solidFill>
                  <a:srgbClr val="3C90D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0,6</c:v>
                  </c:pt>
                  <c:pt idx="1">
                    <c:v>1,0</c:v>
                  </c:pt>
                  <c:pt idx="2">
                    <c:v>1,6</c:v>
                  </c:pt>
                  <c:pt idx="3">
                    <c:v>2,5</c:v>
                  </c:pt>
                  <c:pt idx="4">
                    <c:v>4,0</c:v>
                  </c:pt>
                  <c:pt idx="5">
                    <c:v>6,3</c:v>
                  </c:pt>
                  <c:pt idx="6">
                    <c:v>8,0</c:v>
                  </c:pt>
                  <c:pt idx="7">
                    <c:v>10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68</c:v>
                </c:pt>
                <c:pt idx="1">
                  <c:v>49</c:v>
                </c:pt>
                <c:pt idx="2">
                  <c:v>36</c:v>
                </c:pt>
                <c:pt idx="3">
                  <c:v>27</c:v>
                </c:pt>
                <c:pt idx="4">
                  <c:v>19</c:v>
                </c:pt>
                <c:pt idx="5">
                  <c:v>13</c:v>
                </c:pt>
                <c:pt idx="6">
                  <c:v>10</c:v>
                </c:pt>
                <c:pt idx="7">
                  <c:v>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Изоляция 3 мм не снята (1,5 кН)</c:v>
                </c:pt>
              </c:strCache>
            </c:strRef>
          </c:tx>
          <c:spPr>
            <a:solidFill>
              <a:srgbClr val="9AA5B1"/>
            </a:solidFill>
            <a:ln w="31750" cap="flat">
              <a:solidFill>
                <a:srgbClr val="9AA5B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9AA5B1"/>
              </a:solidFill>
              <a:ln w="9525" cap="flat">
                <a:solidFill>
                  <a:srgbClr val="9AA5B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0,6</c:v>
                  </c:pt>
                  <c:pt idx="1">
                    <c:v>1,0</c:v>
                  </c:pt>
                  <c:pt idx="2">
                    <c:v>1,6</c:v>
                  </c:pt>
                  <c:pt idx="3">
                    <c:v>2,5</c:v>
                  </c:pt>
                  <c:pt idx="4">
                    <c:v>4,0</c:v>
                  </c:pt>
                  <c:pt idx="5">
                    <c:v>6,3</c:v>
                  </c:pt>
                  <c:pt idx="6">
                    <c:v>8,0</c:v>
                  </c:pt>
                  <c:pt idx="7">
                    <c:v>10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27</c:v>
                </c:pt>
                <c:pt idx="1">
                  <c:v>18</c:v>
                </c:pt>
                <c:pt idx="2">
                  <c:v>12</c:v>
                </c:pt>
                <c:pt idx="3">
                  <c:v>8</c:v>
                </c:pt>
                <c:pt idx="4">
                  <c:v>5</c:v>
                </c:pt>
                <c:pt idx="5">
                  <c:v>2</c:v>
                </c:pt>
                <c:pt idx="6">
                  <c:v>1</c:v>
                </c:pt>
                <c:pt idx="7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F57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F57"/>
                    </a:solidFill>
                    <a:latin typeface="+mn-lt"/>
                  </a:rPr>
                  <a:t>Давление в трубе, МПа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4A4F57"/>
                    </a:solidFill>
                    <a:latin typeface="+mn-lt"/>
                  </a:defRPr>
                </a:pPr>
                <a:r>
                  <a:rPr sz="1200" b="0" i="0" u="none" strike="noStrike">
                    <a:solidFill>
                      <a:srgbClr val="4A4F57"/>
                    </a:solidFill>
                    <a:latin typeface="+mn-lt"/>
                  </a:rPr>
                  <a:t>Макс. диаметр отверстия, мм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4F5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4F57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4A4F5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4A4F57"/>
                </a:solidFill>
                <a:latin typeface="+mn-lt"/>
              </a:rPr>
              <a:t>Накопленный денежный поток, млн ₽ (по годам)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Накопленный денежный поток</c:v>
                </c:pt>
              </c:strCache>
            </c:strRef>
          </c:tx>
          <c:spPr>
            <a:solidFill>
              <a:srgbClr val="023A8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-2.97</c:v>
                </c:pt>
                <c:pt idx="1">
                  <c:v>-2.25</c:v>
                </c:pt>
                <c:pt idx="2">
                  <c:v>-0.43</c:v>
                </c:pt>
                <c:pt idx="3">
                  <c:v>2.49</c:v>
                </c:pt>
                <c:pt idx="4">
                  <c:v>5.41</c:v>
                </c:pt>
                <c:pt idx="5">
                  <c:v>8.33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A1A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5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-4"/>
        </c:scaling>
        <c:delete val="0"/>
        <c:axPos val="l"/>
        <c:majorGridlines>
          <c:spPr>
            <a:ln w="9525" cap="flat">
              <a:solidFill>
                <a:srgbClr val="E3E8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F57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Здравствуйте! Тема моего доклада — магнитно-вакуумная герметизирующая пластина, или сокращённо МВГП. Это устройство для временной герметизации сквозных течей на нефтепроводах и резервуарах. Я расскажу, почему эта задача актуальна, какие решения уже есть на рынке, какое устройство мы предлагаем, как оно работает и где проходят границы его применения.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Сначала об актуальности. Любая течь на нефтепроводе или резервуаре — это четыре проблемы сразу. Во-первых, прямые потери нефти. Во-вторых, загрязнение грунта и воды и связанные с этим штрафы. В-третьих, простой: перекачку останавливают или снижают давление. И в-четвёртых, пары нефти создают риск пожара и взрыва. Поэтому нужен способ остановить течь за минуты, без сварки и без ударного инструмента.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Цель проекта — разработать магнитное устройство временной герметизации, которое ставится за минуты, без сварки и огневых работ, и позволяет следить за герметичностью до планового ремонта. Для этого мы решаем шесть задач: анализируем существующие методы и рынок, определяем условия работы на трубопроводах и резервуарах, разрабатываем концепцию и технологию применения, оцениваем силы и область применения, считаем экономику и, наконец, формулируем ограничения и план развития.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Устройство должно работать на двух объектах, и это две разные задачи. На трубопроводах диаметры от 219 до 1220 миллиметров, стенка 8–20 миллиметров, а давление на магистрали достигает 6,3–10 мегапаскалей. В резервуаре давление создаёт только столб нефти: у днища примерно 0,15 мегапаскаля. То есть давления различаются в 40–60 раз. Зато в резервуаре дефекты бывают крупнее, а стенка вертикальная. Температура нефти обычно до 40 градусов, окружающая среда — до минус 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о том, что уже есть на рынке. На магистральных нефтепроводах по РД отверстия до 8–12 миллиметров забивают чопиками. Самое массовое решение для труб — ремонтный хомут, он держит до 100 бар, но только на трубе своего диаметра. Пластырь с прижимным болтом из судового аварийного имущества закрывает пробоины до 120 миллиметров. Есть магнитная оснастка, например мост-рамка Магнетпатч: отверстие 10 миллиметров при 60 атмосферах. Гибкие магнитные пластыри и пневмоподушки работают только при низком давлении.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Анализ показал шесть слабых мест. Устройство приходится ставить навстречу струе. Сильный магнит прыгает на металл, его невозможно аккуратно поставить, при ударе возможна искра. Краска и изоляция работают как зазор и снижают силу магнита. Жёсткие устройства подходят только под один диаметр. Нет контроля: никто не видит, держит ли заплатка. И наконец, мороз и взрывоопасная зона. Отсюда ниша: устройство, которое можно сначала примерить, потом включить, проверить и контролировать.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Наше решение — магнитно-вакуумная герметизирующая пластина. Главная идея: сначала примерить, потом включить. Пластину ставят на дефект с выключенными магнитами, она свободно двигается и центрируется. Затем ручным насосом создаётся вакуум: если он держится, контур уплотнения сел плотно. Только после этого рычагами включаются магниты — без удара. Пока пластину ставят, струя нефти уходит через полый конус и кран в шланг. А после установки манометр контрольной полости показывает, держит ли герметизация.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Так устройство выглядит на объекте. Слева — трубопровод в основном режиме: радиусная пластина, четыре магнитных блока с рычагами, в центре нажимной винт и кран отвода, спереди манометр. Ремней здесь нет — магнитов и вакуума хватает для типичных свищей. Справа — то же устройство на стенке резервуара. Стенка почти плоская, поэтому пластина делается в плоском исполнении, а давление здесь всего около 0,15 мегапаскаля.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Посмотрим на устройство в разрезе. Корпус — немагнитная пластина, изогнутая по радиусу трубы. По углам стоят четыре поворотных магнитных блока. Снизу два контура уплотнения из маслобензостойкой резины: внутренний держит давление нефти, внешний образует вакуумную полость. Полость между ними сначала служит для вакуума, а потом для контроля. В центре полый конус с нажимным винтом: он работает как чопик, но вводится винтом, а не забивается. Сверху кран и шланг отвода.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разнесённом виде видно, из чего собирается устройство. Внизу труба со свищом. На неё ложатся два контура уплотнения. Над ними полый латунный конус, который входит в отверстие. Дальше немагнитная пластина с окнами под полюса, на ней кран, нажимной винт и манометр. Сверху четыре магнитных блока. Масса комплекта — около 15 килограммов, его ставят один-два человека. Конусы сменные, а пластина выпускается в двух исполнениях — для труб и для резервуаров.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сделать магнит выключаемым? Используем поворотный постоянный магнит, как в магнитных грузозахватах. В положении ВЫКЛ магнитный поток замкнут внутри корпуса, и пластина свободно двигается. Поворот рычагом на 90 градусов направляет поток в стенку трубы — появляется прижим. Электричество не нужно, что важно во взрывоопасной зоне. Сама пластина сделана немагнитной: стальная замкнула бы поток на себя. Вакуум даёт около 1,4 килоньютона — это немного, его главная задача — проверить прилегание.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Установка занимает семь шагов. Сначала газоанализ, средства защиты и очистка зоны латунной щёткой. Затем примерка: магниты выключены, кран открыт, струя уходит в шланг. Ручным насосом создаём вакуум — если он держится, прилегание хорошее. Включаем магниты рычагами крест-накрест. Нажимным винтом вводим конус в отверстие. Закрываем кран — течь остановлена. Дальше по манометру контролируем: ноль — держит, давление растёт — подтекает. Огневые работы не нужны.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два ключевых момента установки. Слева — примерка: рычаги магнитов стоят поперёк, то есть магниты выключены, и пластину можно двигать. Кран открыт, нефть уходит по шлангу в ёмкость, а не бьёт в людей. Ручной насос создаёт вакуум. Справа — устройство установлено: рычаги повёрнуты вдоль трубы, магниты включены, конус дожат, кран закрыт, течь остановлена. Положение рычагов видно издалека, и это тоже элемент безопасности.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расчёт. Нужная сила для конуса складывается из давления нефти на площадь отверстия и силы обжатия резины, с запасом два. Имеющаяся сила — это четыре магнитных блока по 300 килограмм-сил с поправками на зазор, толщину стенки и кривизну, плюс вакуум. Получается: на резервуаре или на магистрали со снятой изоляцией — около 8,4 килоньютона, на надземной трубе с тонкой стенкой — 6,3, а если изоляцию толщиной 3 миллиметра не снимать — всего 1,5 килоньютона. Это оценка порядка величин, её нужно подтвердить испытаниями.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 графике — максимальный диаметр отверстия, который пластина держит только на магнитах и вакууме, в зависимости от давления. При рабочем давлении магистрали 6,3 мегапаскаля это 13–16 миллиметров. Типичные коррозионные свищи — от 1 до 10 миллиметров, то есть они закрываются с запасом. На резервуаре давление низкое, и ограничивает уже размер пластины, а не магниты. Трещины тяжелее: 50-миллиметровая держится примерно до 2,2 мегапаскаля. А если изоляцию не снимать, устройство работает только до 1 мегапаскаля.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Где магнитов не хватает? Первое — отверстия больше 13–16 миллиметров при давлении магистрали. Второе — длинные трещины при давлении выше 2–4 мегапаскалей. Третье — неснятая изоляция. Четвёртое, самое важное, — страховка: если конус подтечёт, нефть заполнит зону внутреннего контура, и при 6,3 мегапаскаля на пластину придётся около 26 килоньютонов. Плюс гидроудары. Для этих случаев есть режим Б — стяжные ремни. Два ремня дают около 30 килоньютонов, на порядок больше магнитов, и им не мешает изоляция.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Важный практический вопрос — нужно ли зачищать трубу под магнитами. Для краски, плотной ржавчины и нефтяной плёнки — нет: этот зазор уже заложен в расчёт. Зачистка нужна только на подземной магистрали с полиэтиленовой изоляцией, и только в зоне уплотнения. Это ручная холодная работа скребком, без искр. По безопасности: никаких огневых работ, инструмент из латуни и бронзы, магниты переключаются только рычагом.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Сравним МВГП с аналогами. Чопик и хомут хорошо держат давление, но чопик забивают ударом, а хомут не поставить на резервуар. Пластырь с болтом не закрывает мелкие свищи. Существующая магнитная оснастка прыгает на металл и не даёт примерить себя. МВГП закрывает и резервуары, и трубопроводы, ставится без удара, позволяет примерку, а вакуум и манометр дают то, чего нет ни у одного аналога, — проверку прилегания и контроль после установки.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Перейдём к экономике. Сначала себестоимость одного комплекта. Самая дорогая статья — четыре переключаемых магнитных блока, около 28 тысяч рублей: это 36 процентов прямых затрат. Дальше пластина из алюминиевого сплава, уплотнители, латунный конус, кран, манометр, насос, ремни и кейс. Прямые затраты — около 77 тысяч рублей, с накладными — 92 тысячи. При наценке 40 процентов цена комплекта — около 129 тысяч рублей без НДС.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Теперь эффект для заказчика. Расход нефти через отверстие считаем по формуле истечения. Свищ 10 миллиметров даже при сниженном давлении 2,5 мегапаскаля даёт около 11 тонн нефти в час. Если МВГП останавливает течь хотя бы на час раньше хомута, который ещё нужно подобрать и доставить, это 425 тысяч рублей при цене нефти 60 долларов и 650 тысяч при сентябрьской цене Urals. Одна такая течь окупает три комплекта. И это без учёта экологического ущерба, штрафов и простоя.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 экономика самого проекта. Чтобы дойти от концепции до серии, нужно около 3 миллионов рублей: моделирование, конструкторская документация, три прототипа, испытательный стенд, испытания на морозе, патентование и оснастка. Если продавать 40 комплектов в первый год, 80 во второй и по 120 дальше, с учётом налога и постоянных расходов проект окупается примерно за 2 года, с дисконтированием — за 2,6 года. NPV за пять лет — около 3,5 миллиона рублей, внутренняя норма доходности — 53 процента. Затраты на разработку окупаются после продажи примерно 81 комплекта.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Что дальше. Первый этап — моделирование магнитной системы, чтобы точно подобрать блоки с учётом зазора и кривизны. Второй — 3D-модель и типоразмерный ряд. Третий — прототип и стендовые испытания на отрыв, сдвиг, герметичность и мороз. Четвёртый — патентный поиск, чтобы подтвердить новизну. И пятый — опытная эксплуатация у заказчика и запуск серии. Главная цель следующего этапа — подтвердить расчётную область применения испытаниями.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Подведу итог. Существующие средства либо держат давление, но ставятся медленно, либо быстрые, но без контроля. Мы предложили магнитно-вакуумную пластину: её можно примерить, проверить вакуумом, включить магниты без удара и потом контролировать по манометру. По оценке, четыре магнита и вакуум закрывают течи в резервуарах и типичные свищи на магистрали, а для крупных дефектов есть ремень. По экономике: комплект стоит около 129 тысяч рублей, а одна остановленная течь сохраняет 0,4–0,65 миллиона, проект окупается примерно за два года. Устройство ставится без огневых работ. Следующий шаг — моделирование, прототип и испытания.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Спасибо за внимание! Готов ответить на вопросы.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VFU_TITLE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VFU_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VFU_END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Вид на кампус ДВФУ на острове Русский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779008" y="0"/>
            <a:ext cx="6412687" cy="42675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67505"/>
            <a:ext cx="12191695" cy="2590495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72998" y="694944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200" b="1" dirty="0">
                <a:solidFill>
                  <a:schemeClr val="accent1"/>
                </a:solidFill>
              </a:rPr>
              <a:t>МАГНИТНО-ВАКУУМНАЯ ГЕРМЕТИЗИРУЮЩАЯ ПЛАСТИНА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672998" y="2788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Инженерный кейс: временная герметизация течи на нефтепроводах и резервуарах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72998" y="4700016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РАЗРАБОТКА МАГНИТНОГО СРЕДСТВА ВРЕМЕННОЙ ГЕРМЕТИЗАЦИИ СКВОЗНЫХ ТЕЧЕЙ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72998" y="571500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bg1"/>
                </a:solidFill>
              </a:rPr>
              <a:t>Архипов В.В., студент гр. Б3124-21.03.01стх, Политехнический институт ДВФУ</a:t>
            </a:r>
            <a:endParaRPr lang="en-US" sz="1300" dirty="0"/>
          </a:p>
        </p:txBody>
      </p:sp>
      <p:pic>
        <p:nvPicPr>
          <p:cNvPr id="8" name="Image 1" descr="Логотип ДВФУ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4983480"/>
            <a:ext cx="1527048" cy="9482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АКТУАЛЬНОСТЬ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ЛЮБАЯ ТЕЧЬ — ЭТО ПОТЕРИ, ЭКОЛОГИЯ И РИСК ВЗРЫВА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2002536"/>
            <a:ext cx="2542032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020824"/>
            <a:ext cx="2542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2037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0662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ПОТЕРИ НЕФТИ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054096"/>
            <a:ext cx="21396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Продукт уходит, пока течь не остановлена: каждая минута — прямые убытки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56432" y="2002536"/>
            <a:ext cx="2542032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3456432" y="2020824"/>
            <a:ext cx="2542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2037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70662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ЭКОЛОГИЯ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0" y="3054096"/>
            <a:ext cx="21396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Загрязнение грунта и воды, штрафы и затраты на рекультивацию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9632" y="2002536"/>
            <a:ext cx="2542032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6199632" y="2020824"/>
            <a:ext cx="2542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0" y="22037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270662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ПРОСТОЙ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0" y="3054096"/>
            <a:ext cx="21396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Перекачку останавливают или снижают давление до ремонта участка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942832" y="2002536"/>
            <a:ext cx="2542032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8942832" y="2020824"/>
            <a:ext cx="2542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0" y="2203704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04</a:t>
            </a:r>
            <a:endParaRPr lang="en-US" sz="2600" dirty="0"/>
          </a:p>
        </p:txBody>
      </p:sp>
      <p:sp>
        <p:nvSpPr>
          <p:cNvPr id="22" name="Text 20"/>
          <p:cNvSpPr txBox="1"/>
          <p:nvPr/>
        </p:nvSpPr>
        <p:spPr>
          <a:xfrm>
            <a:off x="9144000" y="2706624"/>
            <a:ext cx="2139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ПОЖАР И ВЗРЫВ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054096"/>
            <a:ext cx="21396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Пары нефти в зоне течи: нужны быстрые и безыскровые средства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13232" y="4206240"/>
            <a:ext cx="10771632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87552" y="4206240"/>
            <a:ext cx="10222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Нужен способ остановить течь за минуты — без сварки, огневых работ и ударного инструмента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ЦЕЛЬ И ЗАДАЧИ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ЧТО МЫ ДЕЛАЕМ В ПРОЕКТЕ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3840480" cy="39502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87552" y="2011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ЦЕЛЬ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46888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Разработать магнитное устройство временной герметизации сквозных течей на нефтепроводах и резервуарах, которое ставится за минуты, без сварки и огневых работ, и позволяет контролировать герметичность до планового ремонта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919472" y="1783080"/>
            <a:ext cx="656539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9472" y="190195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513832" y="1837944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Проанализировать существующие методы временной герметизации и рынок магнитных пластырей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919472" y="2441448"/>
            <a:ext cx="656539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19472" y="256032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513832" y="2496312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Определить условия работы устройства на нефтепроводах и резервуарах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919472" y="3099816"/>
            <a:ext cx="656539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19472" y="321868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5513832" y="3154680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Разработать концепцию устройства и технологию его применения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919472" y="3758184"/>
            <a:ext cx="656539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919472" y="3877056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513832" y="3813048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Оценить силы прижима и определить область применения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919472" y="4416552"/>
            <a:ext cx="656539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19472" y="4535424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5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5513832" y="4471416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Оценить экономическую эффективность устройства и проекта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919472" y="5074920"/>
            <a:ext cx="656539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19472" y="519379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6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5513832" y="5129784"/>
            <a:ext cx="5971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Сформулировать ограничения и план дальнейшего развития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919472" y="5733288"/>
            <a:ext cx="656539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ОБЪЕКТЫ И ИСХОДНЫЕ ДАННЫЕ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ДВА ОБЪЕКТА — ДВЕ РАЗНЫЕ ЗАДАЧИ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783080"/>
          <a:ext cx="72237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834640"/>
                <a:gridCol w="2560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Параметр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Трубопроводы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Резервуары РВС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Среда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нефть, нефтепродукты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нефть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Диаметр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DN 219–1220 мм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10–60 м (стенка почти плоская)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Толщина стенки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8–20 мм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6–25 мм по поясам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Давление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до 6,3–10 МПа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≈ 0,15 МПа у днища (ρgh)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Температура нефти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+5…+40 °C, до 60–80 °C при «горячей» перекачке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+5…+40 °C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Окружающая среда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−50…+40 °C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−50…+40 °C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Покрытие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краска 0,1–0,3 мм; ПЭ-изоляция 2–3,5 мм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краска 0,1–0,3 мм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57032" y="1783080"/>
            <a:ext cx="3227832" cy="1234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8257032" y="1801368"/>
            <a:ext cx="32278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58200" y="1984248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6,3 МПа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458200" y="2487168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трубопровод, рабочее давление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458200" y="2834640"/>
            <a:ext cx="28254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57032" y="3200400"/>
            <a:ext cx="3227832" cy="1234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8257032" y="3218688"/>
            <a:ext cx="32278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3401568"/>
            <a:ext cx="2825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0,15 МПа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3904488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резервуар, давление у днища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458200" y="4251960"/>
            <a:ext cx="28254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257032" y="4617720"/>
            <a:ext cx="3227832" cy="9144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458200" y="4617720"/>
            <a:ext cx="28254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в 40–60 раз</a:t>
            </a:r>
            <a:endParaRPr lang="en-US" sz="20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различаются давления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АНАЛИЗ РЫНКА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ЧЕМ СЕЙЧАС ЗАКРЫВАЮТ СКВОЗНЫЕ ОТВЕРСТИЯ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783080"/>
          <a:ext cx="10771632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286000"/>
                <a:gridCol w="29077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Решение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Принцип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Параметры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Главное ограничение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Чопик (РД 153-39.4-114-01)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Стальной конус забивают в отверстие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Отверстия до 8–12 мм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Удары; только малые круглые отверстия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Ремонтный хомут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Охватывает трубу, стягивается болтами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До 69–103 бар (TEAM, PLIDCO)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Только трубы, свой диаметр, доступ со всех сторон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Пластырь с прижимным болтом ЖБ-150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Откидной болт через пробоину, диск с резиной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Отверстия до 120 мм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Не закрывает мелкие свищи и трещины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Магнитная оснастка (Магнетпатч, МГУ)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Магнитные блоки + конус или прокладка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Ø10 мм при 60 атм; до 50 атм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Магнит «прыгает»; ставят навстречу струе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Гибкий магнитный пластырь MAGNASEAL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Полиуретан с магнитами и ремнями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≈ 1,7–2 бар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Только низкое давление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Пневмоподушки и манжеты Vetter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Надувная подушка или манжета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≈ 1,5 бар; манжеты до 16 бар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Низкое давление, нужен источник воздуха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3232" y="5715000"/>
            <a:ext cx="1077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По открытым данным производителей и РД ПАО «Транснефть»; характеристики требуют уточнения у производителей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АНАЛИЗ РЫНКА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ГДЕ СУЩЕСТВУЮЩИЕ РЕШЕНИЯ ПРОИГРЫВАЮТ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3456432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01368"/>
            <a:ext cx="34564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84248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УСТАНОВКА НАВСТРЕЧУ СТРУЕ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3288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Струю нефти под давлением трудно перекрыть, работа опасна для персонала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0832" y="1783080"/>
            <a:ext cx="3456432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370832" y="1801368"/>
            <a:ext cx="34564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1984248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МАГНИТ «ПРЫГАЕТ» НА МЕТАЛЛ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53288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Устройство нельзя спозиционировать: удар о стенку, риск искры и травмы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28432" y="1783080"/>
            <a:ext cx="3456432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8028432" y="1801368"/>
            <a:ext cx="34564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0" y="1984248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ПОКРЫТИЕ — ЭТО ЗАЗОР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53288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Краска и изоляция ощутимо снижают силу притяжения магнита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3232" y="3474720"/>
            <a:ext cx="3456432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713232" y="3493008"/>
            <a:ext cx="34564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675888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КРИВИЗНА ТРУБЫ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422452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Жёсткие устройства — под один диаметр, гибкие держат малое давление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70832" y="3474720"/>
            <a:ext cx="3456432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4370832" y="3493008"/>
            <a:ext cx="34564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3675888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НЕТ КОНТРОЛЯ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22452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Не видно, держит ли временная заплатка до планового ремонта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28432" y="3474720"/>
            <a:ext cx="3456432" cy="150876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8028432" y="3493008"/>
            <a:ext cx="34564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3675888"/>
            <a:ext cx="3054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УСЛОВИЯ ЭКСПЛУАТАЦИИ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4224528"/>
            <a:ext cx="30540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Мороз до −50 °C, взрывоопасная зона, нефть разрушает часть резин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13232" y="5257800"/>
            <a:ext cx="10771632" cy="5029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87552" y="5257800"/>
            <a:ext cx="10222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Ниша: устройство, которое можно примерить, затем включить, проверить и контролировать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ПРЕДЛАГАЕМОЕ РЕШЕНИЕ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МВГП: СНАЧАЛА ПРИМЕРИТЬ, ПОТОМ ВКЛЮЧИТЬ</a:t>
            </a:r>
            <a:endParaRPr lang="en-US" sz="2600" dirty="0"/>
          </a:p>
        </p:txBody>
      </p:sp>
      <p:pic>
        <p:nvPicPr>
          <p:cNvPr id="4" name="Image 0" descr="Общий вид магнитно-вакуумной герметизирующей пластины на трубе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11680"/>
            <a:ext cx="5120640" cy="295899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13232" y="5120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Общий вид на трубе; жёлтые ремни — усиление для магистралей (режим Б)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99632" y="18288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19963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39712" y="178308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Ставится выключенной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39712" y="209397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пластина свободно двигается и центрируется по течи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99632" y="26974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19963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839712" y="265176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Вакуум проверяет прилегание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39712" y="296265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контур уплотнения сел плотно — только тогда включаем магниты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199632" y="3566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199632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39712" y="352044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Переключаемые магниты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839712" y="383133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включаются рычагами: прижим без удара и искры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99632" y="44348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9963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839712" y="438912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Полый конус и кран отвода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839712" y="470001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пока ставим, струя уходит через устройство в шланг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99632" y="5303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199632" y="5303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5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839712" y="525780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Контрольная полость с манометром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6839712" y="556869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показывает, держит ли герметизация до ремонта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ВНЕШНИЙ ВИД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ОДНО УСТРОЙСТВО — ДЛЯ ТРУБОПРОВОДА И РЕЗЕРВУАРА</a:t>
            </a:r>
            <a:endParaRPr lang="en-US" sz="2600" dirty="0"/>
          </a:p>
        </p:txBody>
      </p:sp>
      <p:pic>
        <p:nvPicPr>
          <p:cNvPr id="4" name="Image 0" descr="МВГП на трубопроводе, основной режим без ремней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83080"/>
            <a:ext cx="6035040" cy="3486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783080"/>
            <a:ext cx="6035040" cy="3486607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1" descr="МВГП на стенке резервуар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1783080"/>
            <a:ext cx="3890772" cy="348660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022592" y="1783080"/>
            <a:ext cx="3890772" cy="3486607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13232" y="539496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Трубопровод — основной режим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радиусная пластина, 4 магнита и вакуум, без ремней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7022592" y="5394960"/>
            <a:ext cx="4462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Резервуар РВС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плоское исполнение пластины на вертикальной стенке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КОНСТРУКЦИЯ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ИЗ ЧЕГО СОСТОИТ ПЛАСТИНА</a:t>
            </a:r>
            <a:endParaRPr lang="en-US" sz="2600" dirty="0"/>
          </a:p>
        </p:txBody>
      </p:sp>
      <p:pic>
        <p:nvPicPr>
          <p:cNvPr id="4" name="Image 0" descr="Разрез пластины поперёк трубы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83080"/>
            <a:ext cx="5486400" cy="395935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783080"/>
            <a:ext cx="5486400" cy="3959352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73952" y="1783080"/>
          <a:ext cx="5010912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953512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Узел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Назначение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Корпус-пластина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Немагнитный сплав, изогнута по радиусу трубы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Магнитные блоки ×4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Поворотные, по углам, вне контуров уплотнения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Внутренний контур NBR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Держит давление нефти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Внешний контур NBR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Образует вакуумную полость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Контрольная полость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Вакуум при установке, контроль при работе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Полый конус и винт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Работает как чопик, но без ударов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Кран и шланг отвода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Уводят струю, пока ставят пластину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13232" y="5870448"/>
            <a:ext cx="1077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Уплотнители — маслобензостойкая и морозостойкая резина NBR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СОСТАВ УСТРОЙСТВА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РАЗНЕСЁННЫЙ ВИД: ИЗ ЧЕГО СОБИРАЕТСЯ МВГП</a:t>
            </a:r>
            <a:endParaRPr lang="en-US" sz="2600" dirty="0"/>
          </a:p>
        </p:txBody>
      </p:sp>
      <p:pic>
        <p:nvPicPr>
          <p:cNvPr id="4" name="Image 0" descr="Разнесённый вид устройства: труба, уплотнения, конус, пластина, магнитные блок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83080"/>
            <a:ext cx="7498080" cy="41833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783080"/>
            <a:ext cx="7498080" cy="4183380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485632" y="1783080"/>
            <a:ext cx="2999232" cy="12984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7" name="Shape 4"/>
          <p:cNvSpPr/>
          <p:nvPr/>
        </p:nvSpPr>
        <p:spPr>
          <a:xfrm>
            <a:off x="8485632" y="1801368"/>
            <a:ext cx="29992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0" y="1984248"/>
            <a:ext cx="2596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≈ 15 кг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2423160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масса комплекта; ставят 1–2 человека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485632" y="3218688"/>
            <a:ext cx="2999232" cy="12984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8485632" y="3236976"/>
            <a:ext cx="29992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686800" y="3419856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Сменные конусы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686800" y="3767328"/>
            <a:ext cx="2596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под отверстия от 3 до 20 мм и плоская прокладка для трещин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485632" y="4654296"/>
            <a:ext cx="2999232" cy="130759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8485632" y="4672584"/>
            <a:ext cx="29992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86800" y="4855464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Два исполнения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0" y="5202936"/>
            <a:ext cx="2596896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радиусное для труб D 219–1220 мм и плоское для РВС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ПРИНЦИП ДЕЙСТВИЯ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ПЕРЕКЛЮЧАЕМЫЙ МАГНИТ И НЕМАГНИТНАЯ ПЛАСТИНА</a:t>
            </a:r>
            <a:endParaRPr lang="en-US" sz="2600" dirty="0"/>
          </a:p>
        </p:txBody>
      </p:sp>
      <p:pic>
        <p:nvPicPr>
          <p:cNvPr id="4" name="Image 0" descr="Переключаемый магнитный блок в положениях ВЫКЛ и ВКЛ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83080"/>
            <a:ext cx="2697480" cy="396849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783080"/>
            <a:ext cx="2697480" cy="3968496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1" descr="Вид пластины со стороны прилегания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032" y="1783080"/>
            <a:ext cx="2971800" cy="396849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685032" y="1783080"/>
            <a:ext cx="2971800" cy="3968496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931152" y="1783080"/>
            <a:ext cx="4553712" cy="126187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5"/>
          <p:cNvSpPr/>
          <p:nvPr/>
        </p:nvSpPr>
        <p:spPr>
          <a:xfrm>
            <a:off x="6931152" y="1801368"/>
            <a:ext cx="455371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0" y="198424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ВЫКЛ → ВКЛ: ПОВОРОТ НА 90°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132320" y="2331720"/>
            <a:ext cx="4151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В положении ВЫКЛ поток замкнут в корпусе, при ВКЛ уходит в стенку трубы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931152" y="3136392"/>
            <a:ext cx="4553712" cy="126187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hape 9"/>
          <p:cNvSpPr/>
          <p:nvPr/>
        </p:nvSpPr>
        <p:spPr>
          <a:xfrm>
            <a:off x="6931152" y="3154680"/>
            <a:ext cx="455371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132320" y="3337560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ПОЧЕМУ ПЛАСТИНА НЕМАГНИТНАЯ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7132320" y="3685032"/>
            <a:ext cx="4151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Стальная пластина замкнула бы поток на себя. Полюса выходят к трубе через окна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931152" y="4489704"/>
            <a:ext cx="4553712" cy="1261872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6931152" y="4507992"/>
            <a:ext cx="455371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7132320" y="4690872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ВАКУУМ ≈ 1,4 кН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7132320" y="5038344"/>
            <a:ext cx="4151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0,07 МПа × 200 см². Не основная сила, а проверка прилегания и предфиксация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ТЕХНОЛОГИЯ ПРИМЕНЕНИЯ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УСТАНОВКА ЗА СЕМЬ ШАГОВ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2377440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96112" y="1920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350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ПОДГОТОВКА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26426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Газоанализ, СИЗ, очистка зоны латунной щёткой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9544" y="2432304"/>
            <a:ext cx="182880" cy="256032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9" name="Shape 7"/>
          <p:cNvSpPr/>
          <p:nvPr/>
        </p:nvSpPr>
        <p:spPr>
          <a:xfrm>
            <a:off x="3511296" y="1783080"/>
            <a:ext cx="2377440" cy="1554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94176" y="1920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3694176" y="2350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ПРИМЕРКА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694176" y="26426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Магниты ВЫКЛ, кран открыт, струя уходит в шланг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07608" y="2432304"/>
            <a:ext cx="182880" cy="256032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1783080"/>
            <a:ext cx="2377440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1920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350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ВАКУУМ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6426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Ручной насос: вакуум держится — контур сел плотно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805672" y="2432304"/>
            <a:ext cx="182880" cy="256032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19" name="Shape 17"/>
          <p:cNvSpPr/>
          <p:nvPr/>
        </p:nvSpPr>
        <p:spPr>
          <a:xfrm>
            <a:off x="9107424" y="1783080"/>
            <a:ext cx="2377440" cy="1554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290304" y="1920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9290304" y="2350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МАГНИТЫ ВКЛ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290304" y="26426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Рычагами крест-накрест, без удара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112264" y="3611880"/>
            <a:ext cx="2377440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2295144" y="3749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2295144" y="4178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ДОЖИМ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295144" y="44714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Нажимной винт вводит конус в отверстие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08576" y="4261104"/>
            <a:ext cx="182880" cy="256032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28" name="Shape 26"/>
          <p:cNvSpPr/>
          <p:nvPr/>
        </p:nvSpPr>
        <p:spPr>
          <a:xfrm>
            <a:off x="4910328" y="3611880"/>
            <a:ext cx="2377440" cy="1554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93208" y="3749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6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5093208" y="4178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КРАН ЗАКРЫТ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093208" y="44714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Течь остановлена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06640" y="4261104"/>
            <a:ext cx="182880" cy="256032"/>
          </a:xfrm>
          <a:prstGeom prst="rightArrow">
            <a:avLst/>
          </a:prstGeom>
          <a:solidFill>
            <a:schemeClr val="accent3"/>
          </a:solidFill>
          <a:ln/>
        </p:spPr>
      </p:sp>
      <p:sp>
        <p:nvSpPr>
          <p:cNvPr id="33" name="Shape 31"/>
          <p:cNvSpPr/>
          <p:nvPr/>
        </p:nvSpPr>
        <p:spPr>
          <a:xfrm>
            <a:off x="7708392" y="3611880"/>
            <a:ext cx="2377440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891272" y="3749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7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7891272" y="41788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КОНТРОЛЬ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7891272" y="4471416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Манометр полости: 0 — держит, растёт — подтекает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713232" y="5577840"/>
            <a:ext cx="1077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Без огневых работ и искрообразующего инструмента. На магистралях ≥ 4 МПа — дополнительно стяжной ремень (режим Б)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ТЕХНОЛОГИЯ ПРИМЕНЕНИЯ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ДО И ПОСЛЕ ВКЛЮЧЕНИЯ МАГНИТОВ</a:t>
            </a:r>
            <a:endParaRPr lang="en-US" sz="2600" dirty="0"/>
          </a:p>
        </p:txBody>
      </p:sp>
      <p:pic>
        <p:nvPicPr>
          <p:cNvPr id="4" name="Image 0" descr="Примерка: магниты выключены, кран открыт, струя уходит в ёмкость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83080"/>
            <a:ext cx="5248656" cy="355701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13232" y="1783080"/>
            <a:ext cx="5248656" cy="3557016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pic>
        <p:nvPicPr>
          <p:cNvPr id="6" name="Image 1" descr="Установлено: магниты включены, кран закрыт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8" y="1783080"/>
            <a:ext cx="5248656" cy="35570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236208" y="1783080"/>
            <a:ext cx="5248656" cy="3557016"/>
          </a:xfrm>
          <a:prstGeom prst="rect">
            <a:avLst/>
          </a:prstGeom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13232" y="5458968"/>
            <a:ext cx="5248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ВЫКЛ, кран открыт — примерка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рычаги поперёк, пластина двигается; струя уходит в ёмкость; насос создаёт вакуум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6236208" y="5458968"/>
            <a:ext cx="5248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ВКЛ, кран закрыт — течь остановлена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рычаги вдоль трубы, конус дожат винтом, манометр контролирует полость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РАСЧЁТ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СИЛА ПРИЖИМА: СКОЛЬКО НУЖНО И СКОЛЬКО ЕСТЬ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6035040" cy="18288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01368"/>
            <a:ext cx="60350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196596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СКОЛЬКО НУЖНО (полый конус)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37744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F треб = n · ( p·π·G²/4 + 2b·π·G·m·p 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88036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 = d + b — средний диаметр контакта; b = 3 мм — ширина контакта резины; m = 1 — коэффициент прокладки; n = 2 — запас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" y="3794760"/>
            <a:ext cx="6035040" cy="19202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713232" y="3813048"/>
            <a:ext cx="603504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41832" y="397764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СКОЛЬКО ЕСТЬ (4 магнита + вакуум)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" y="438912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F = N·F₀·k зазор·k стенка·k кривизна + F вак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941832" y="48920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N = 4; F₀ = 300 кгс на блок; k зазор = 0,7 (краска 0,3 мм), 0,15 (изоляция 3 мм); k стенка = 0,55–1,0; k кривизна = 0,85; F вак ≈ 1,4 кН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22592" y="1783080"/>
            <a:ext cx="4462272" cy="1188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251192" y="189280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8,4 кН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7251192" y="246888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РВС или магистраль со снятой изоляцией, стенка ≥ 10–12 мм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022592" y="3108960"/>
            <a:ext cx="446227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51192" y="321868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6,3 кН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7251192" y="379476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надземная труба D 219–530 мм, стенка 8 мм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22592" y="4434840"/>
            <a:ext cx="446227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251192" y="4544568"/>
            <a:ext cx="40050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1,5 кН</a:t>
            </a:r>
            <a:endParaRPr lang="en-US" sz="3200" dirty="0"/>
          </a:p>
        </p:txBody>
      </p:sp>
      <p:sp>
        <p:nvSpPr>
          <p:cNvPr id="22" name="Text 20"/>
          <p:cNvSpPr txBox="1"/>
          <p:nvPr/>
        </p:nvSpPr>
        <p:spPr>
          <a:xfrm>
            <a:off x="7251192" y="5120640"/>
            <a:ext cx="40050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магистраль, ПЭ-изоляция 3 мм не снята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" y="5870448"/>
            <a:ext cx="1077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Оценка порядка величин по типовым данным магнитных захватов и методике расчёта прокладок; уточняется моделированием и испытаниями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ОБЛАСТЬ ПРИМЕНЕНИЯ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КАКОЕ ОТВЕРСТИЕ ЗАКРЫВАЮТ МАГНИТЫ БЕЗ УСИЛЕНИЯ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13232" y="1737360"/>
          <a:ext cx="676656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799832" y="1783080"/>
            <a:ext cx="3685032" cy="12984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99832" y="1801368"/>
            <a:ext cx="3685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0" y="198424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13–16 мм при 6,3 МПа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01000" y="233172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Типичные коррозионные свищи 1–10 мм закрываются с запасом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99832" y="3200400"/>
            <a:ext cx="3685032" cy="129844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7799832" y="3218688"/>
            <a:ext cx="3685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0" y="340156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РВС, 0,15 МПа: до ~150 мм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001000" y="3749040"/>
            <a:ext cx="3282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Ограничение — размер пластины, а не сила магнитов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99832" y="4617720"/>
            <a:ext cx="368503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7799832" y="4636008"/>
            <a:ext cx="368503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0" y="4818888"/>
            <a:ext cx="3282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Трещины (плоская прокладка)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001000" y="5166360"/>
            <a:ext cx="32826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20 мм — до ~4 МПа; 50 мм — до ~2,2; 100 мм — до ~1,3 МПа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ОГРАНИЧЕНИЯ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КОГДА НУЖЕН УСИЛИТЕЛЬ — СТЯЖНОЙ РЕМЕНЬ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324612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01368"/>
            <a:ext cx="32461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8424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Отверстие &gt; 13–16 мм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331720"/>
            <a:ext cx="2843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при давлении 6,3 МПа и выше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42232" y="1783080"/>
            <a:ext cx="324612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142232" y="1801368"/>
            <a:ext cx="32461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343400" y="198424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Трещина &gt; 20–50 мм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2331720"/>
            <a:ext cx="2843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при давлении выше 2–4 МПа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" y="3108960"/>
            <a:ext cx="324612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713232" y="3127248"/>
            <a:ext cx="32461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331012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Изоляция 2–3 мм не снята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657600"/>
            <a:ext cx="2843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магниты теряют 75–90 % силы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42232" y="3108960"/>
            <a:ext cx="324612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" name="Shape 15"/>
          <p:cNvSpPr/>
          <p:nvPr/>
        </p:nvSpPr>
        <p:spPr>
          <a:xfrm>
            <a:off x="4142232" y="3127248"/>
            <a:ext cx="32461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343400" y="331012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Страховка от отказа конуса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657600"/>
            <a:ext cx="2843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при 6,3 МПа на внутренний контур — ≈ 26 кН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3232" y="4434840"/>
            <a:ext cx="324612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713232" y="4453128"/>
            <a:ext cx="32461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463600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Гидроудары и вибрация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4983480"/>
            <a:ext cx="2843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+20–50 % к рабочему давлению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42232" y="4434840"/>
            <a:ext cx="3246120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4142232" y="4453128"/>
            <a:ext cx="32461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343400" y="4636008"/>
            <a:ext cx="2843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Диаметр меньше 219 мм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343400" y="4983480"/>
            <a:ext cx="284378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пластина не помещается — нужен хомут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99832" y="1783080"/>
            <a:ext cx="3685032" cy="38404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074152" y="1965960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РЕЖИМ Б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8074152" y="2331720"/>
            <a:ext cx="3136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≈ 30 кН</a:t>
            </a:r>
            <a:endParaRPr lang="en-US" sz="4000" dirty="0"/>
          </a:p>
        </p:txBody>
      </p:sp>
      <p:sp>
        <p:nvSpPr>
          <p:cNvPr id="31" name="Text 29"/>
          <p:cNvSpPr txBox="1"/>
          <p:nvPr/>
        </p:nvSpPr>
        <p:spPr>
          <a:xfrm>
            <a:off x="8074152" y="301752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прижим двух ремней: F ≈ 2·T·sin 55° ≈ 1,6·T при T = 10 кН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074152" y="3703320"/>
            <a:ext cx="3136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≈ 3–4 кН</a:t>
            </a:r>
            <a:endParaRPr lang="en-US" sz="3200" dirty="0"/>
          </a:p>
        </p:txBody>
      </p:sp>
      <p:sp>
        <p:nvSpPr>
          <p:cNvPr id="33" name="Text 31"/>
          <p:cNvSpPr txBox="1"/>
          <p:nvPr/>
        </p:nvSpPr>
        <p:spPr>
          <a:xfrm>
            <a:off x="8074152" y="4279392"/>
            <a:ext cx="3136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рабочая сила магнитов с запасом 2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8074152" y="4754880"/>
            <a:ext cx="3136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Ремню не мешают краска и изоляция. На резервуаре ремень не нужен и не применим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ПОДГОТОВКА И БЕЗОПАСНОСТЬ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БЕЗ ЗАЧИСТКИ ДО МЕТАЛЛА И БЕЗ ОГНЕВЫХ РАБОТ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234440"/>
                <a:gridCol w="2926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Покрытие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Толщина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Зачистка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Краска (РВС, надземные трубы)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0,1–0,3 мм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Не нужна — заложено в расчёт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Плотная ржавчина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0,1–0,5 мм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Не нужна; хлопья — латунной щёткой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Нефтяная плёнка, грязь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доли мм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Протереть ветошью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ПЭ-изоляция магистрали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2–3,5 мм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Ручное холодное удаление в зоне уплотнения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Теплоизоляция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десятки мм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Снимается для доступа к течи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08392" y="1783080"/>
            <a:ext cx="377647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08392" y="1801368"/>
            <a:ext cx="377647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09560" y="1984248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Без огневых работ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331720"/>
            <a:ext cx="3374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Нет сварки, шлифовки и электропитания в зоне течи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708392" y="3108960"/>
            <a:ext cx="377647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7708392" y="3127248"/>
            <a:ext cx="377647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909560" y="3310128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Безыскровой инструмент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7909560" y="3657600"/>
            <a:ext cx="3374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Латунь и бронза: щётка, конус, ключи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08392" y="4434840"/>
            <a:ext cx="377647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4" name="Shape 11"/>
          <p:cNvSpPr/>
          <p:nvPr/>
        </p:nvSpPr>
        <p:spPr>
          <a:xfrm>
            <a:off x="7708392" y="4453128"/>
            <a:ext cx="377647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09560" y="4636008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Сильные магниты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7909560" y="4983480"/>
            <a:ext cx="3374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Переключение только рычагом; опасность защемления, запрет для людей с кардиостимуляторами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СРАВНЕНИЕ С АНАЛОГАМИ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ЧТО ДАЁТ МВГП ПО СРАВНЕНИЮ С АНАЛОГАМИ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783080"/>
          <a:ext cx="10771632" cy="914400"/>
        </p:xfrm>
        <a:graphic>
          <a:graphicData uri="http://schemas.openxmlformats.org/drawingml/2006/table">
            <a:tbl>
              <a:tblPr/>
              <a:tblGrid>
                <a:gridCol w="2907792"/>
                <a:gridCol w="1463040"/>
                <a:gridCol w="1463040"/>
                <a:gridCol w="1645920"/>
                <a:gridCol w="1645920"/>
                <a:gridCol w="1645920"/>
              </a:tblGrid>
              <a:tr h="429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Критерий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Чопик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Хомут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Пластырь с болтом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Магнитная оснастка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МВГП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Резервуары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Трубопроводы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Мелкие свищи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Без ударов и рывков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Примерка до фиксации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chemeClr val="accent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Проверка прилегания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вакуум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Контроль после установки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манометр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Высокое давление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✓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accent6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±</a:t>
                      </a:r>
                      <a:endParaRPr lang="en-US" sz="16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accent1"/>
                          </a:solidFill>
                        </a:rPr>
                        <a:t>с ремнём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3232" y="5806440"/>
            <a:ext cx="1077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✓ — да, ± — частично, — — нет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ЭКОНОМИКА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СЕБЕСТОИМОСТЬ И ЦЕНА КОМПЛЕКТА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12801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Статья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тыс. ₽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Магнитные блоки переключаемые ×4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28,0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Корпус-пластина АМг6 (гибка, фрезеровка)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12,0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Уплотнители NBR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Полый конус и нажимной винт (латунь)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4,5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Кран, шланг отвода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3,5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Мановакуумметр и штуцеры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2,5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Ручной вакуумный насос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3,5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Стяжные ремни ×2 (режим Б)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Кейс и ЗИП (сменные конусы, прокладки)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6,0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Сборка и испытание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8,0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Прямые затраты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77,0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08392" y="1783080"/>
            <a:ext cx="377647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3"/>
          <p:cNvSpPr/>
          <p:nvPr/>
        </p:nvSpPr>
        <p:spPr>
          <a:xfrm>
            <a:off x="7708392" y="1801368"/>
            <a:ext cx="377647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909560" y="1984248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77 тыс. ₽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7909560" y="2487168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прямые затраты на комплект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909560" y="2834640"/>
            <a:ext cx="337413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708392" y="3108960"/>
            <a:ext cx="3776472" cy="11887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7708392" y="3127248"/>
            <a:ext cx="377647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909560" y="3310128"/>
            <a:ext cx="3374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92 тыс. ₽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909560" y="3813048"/>
            <a:ext cx="33741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себестоимость с накладными 20 %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909560" y="4160520"/>
            <a:ext cx="3374136" cy="27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08392" y="4434840"/>
            <a:ext cx="3776472" cy="12801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909560" y="4434840"/>
            <a:ext cx="33741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129 тыс. ₽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цена без НДС (наценка 40 %), маржа 36,6 тыс. ₽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713232" y="5870448"/>
            <a:ext cx="1077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Оценка цен на 2026 г. без НДС; крупнейшая статья — магнитные блоки (36 % прямых затрат)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ЭКОНОМИКА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ОДНА ОСТАНОВЛЕННАЯ ТЕЧЬ ОКУПАЕТ КОМПЛЕКТ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3931920" cy="393192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01368"/>
            <a:ext cx="393192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41832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РАСХОД ЧЕРЕЗ ОТВЕРСТИЕ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23317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Q = μ·A·√(2Δp/ρ)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941832" y="2880360"/>
            <a:ext cx="347472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μ = 0,62; ρ = 850 кг/м³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МВГП останавливает течь на 1 ч раньше хомута: его не нужно подбирать по диаметру и доставлять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Нефть $60/барр ≈ 37 тыс. ₽/т (бюджет РФ 2026); при $92 (Urals, сентябрь 2026) ≈ 57 тыс. ₽/т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919472" y="1783080"/>
          <a:ext cx="6565392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1051560"/>
                <a:gridCol w="1901952"/>
                <a:gridCol w="10972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Сценарий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Расход, т/ч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Сохранено за 1 ч, тыс. ₽ ($60 / $92)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Окупает комплектов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Свищ Ø5 мм, нефтепровод, 2,5 МПа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2,9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106 / 163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0,8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Свищ Ø10 мм, нефтепровод, 2,5 МПа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11,4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425 / 652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3,3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Отверстие Ø20 мм, РВС, напор 15 м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10,2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381 / 584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3,0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919472" y="4343400"/>
            <a:ext cx="6565392" cy="13716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193792" y="4343400"/>
            <a:ext cx="6016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0,4–0,65 млн ₽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нефти сохраняет одна течь Ø10 мм — это 3–5 цен комплекта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713232" y="5870448"/>
            <a:ext cx="1077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Без учёта экологического ущерба, штрафов и простоя перекачки — реальный эффект выше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ЭКОНОМИКА ПРОЕКТА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ЗАТРАТЫ НА РАЗРАБОТКУ И ОКУПАЕМОСТЬ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783080"/>
          <a:ext cx="4206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</a:tblGrid>
              <a:tr h="3611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Этап НИОКР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тыс. ₽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Моделирование и расчёты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3D-модель, КД, типоразмеры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Три прототипа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450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Стенд до 10 МПа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600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Испытания, −50 °C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Патентование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150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Оснастка для серии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Декларирование, пилот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250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Резерв 10 %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270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11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Итого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2 970</a:t>
                      </a:r>
                      <a:endParaRPr lang="en-US" sz="1200" dirty="0"/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193792" y="1691640"/>
          <a:ext cx="6291072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2"/>
          <p:cNvSpPr/>
          <p:nvPr/>
        </p:nvSpPr>
        <p:spPr>
          <a:xfrm>
            <a:off x="5193792" y="4526280"/>
            <a:ext cx="1469898" cy="11430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3"/>
          <p:cNvSpPr txBox="1"/>
          <p:nvPr/>
        </p:nvSpPr>
        <p:spPr>
          <a:xfrm>
            <a:off x="5330952" y="4636008"/>
            <a:ext cx="119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</a:rPr>
              <a:t>3,5 млн ₽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5330952" y="5120640"/>
            <a:ext cx="119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NPV за 5 лет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800850" y="4526280"/>
            <a:ext cx="1469898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938010" y="4636008"/>
            <a:ext cx="119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2,1 года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6938010" y="5120640"/>
            <a:ext cx="119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окупаемость (дисконт. 2,6)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407908" y="4526280"/>
            <a:ext cx="1469898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8545068" y="4636008"/>
            <a:ext cx="119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53 %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8545068" y="5120640"/>
            <a:ext cx="119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IRR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10014966" y="4526280"/>
            <a:ext cx="1469898" cy="11430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10152126" y="4636008"/>
            <a:ext cx="119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accent2"/>
                </a:solidFill>
              </a:rPr>
              <a:t>81 шт.</a:t>
            </a:r>
            <a:endParaRPr lang="en-US" sz="1900" dirty="0"/>
          </a:p>
        </p:txBody>
      </p:sp>
      <p:sp>
        <p:nvSpPr>
          <p:cNvPr id="17" name="Text 13"/>
          <p:cNvSpPr txBox="1"/>
          <p:nvPr/>
        </p:nvSpPr>
        <p:spPr>
          <a:xfrm>
            <a:off x="10152126" y="5120640"/>
            <a:ext cx="11955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комплектов окупают НИОКР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713232" y="5870448"/>
            <a:ext cx="10771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Продажи 40/80/120/120/120 шт. в год; маржа 36,6 тыс. ₽; пост. расходы 0,5 млн ₽/год; налог 25 %; ставка 18 %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ДАЛЬНЕЙШЕЕ РАЗВИТИЕ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ОТ КОНЦЕПЦИИ К ПРОТОТИПУ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783080"/>
            <a:ext cx="201168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01368"/>
            <a:ext cx="20116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9659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ЭТАП 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77824" y="22860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МОДЕЛИРОВАНИЕ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83464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Магнитная система в FEMM / ANSYS: подбор блоков, учёт зазора и кривизны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903220" y="1783080"/>
            <a:ext cx="201168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2903220" y="1801368"/>
            <a:ext cx="20116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67812" y="19659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ЭТАП 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67812" y="22860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3D-МОДЕЛЬ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067812" y="283464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Чертежи и типоразмерный ряд под диаметры труб и резервуары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93208" y="1783080"/>
            <a:ext cx="201168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5093208" y="1801368"/>
            <a:ext cx="20116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57800" y="19659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ЭТАП 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22860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ПРОТОТИП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257800" y="283464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Стендовые испытания: отрыв, сдвиг, герметичность, −50 °C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83196" y="1783080"/>
            <a:ext cx="201168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7283196" y="1801368"/>
            <a:ext cx="20116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47788" y="19659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ЭТАП 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47788" y="22860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ПАТЕНТНЫЙ ПОИСК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447788" y="283464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Проверка новизны сочетания решений (RU 2557648 и др.)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473184" y="1783080"/>
            <a:ext cx="2011680" cy="23774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5" name="Shape 23"/>
          <p:cNvSpPr/>
          <p:nvPr/>
        </p:nvSpPr>
        <p:spPr>
          <a:xfrm>
            <a:off x="9473184" y="1801368"/>
            <a:ext cx="2011680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37776" y="1965960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ЭТАП 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637776" y="2286000"/>
            <a:ext cx="16824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ПИЛОТ И СЕРИЯ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9637776" y="2834640"/>
            <a:ext cx="16824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Опытная эксплуатация у заказчика, запуск серийного производства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13232" y="4434840"/>
            <a:ext cx="10771632" cy="56692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87552" y="4434840"/>
            <a:ext cx="10222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Цель следующего этапа — подтвердить расчётную область применения испытаниями прототипа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713232" y="612648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ВЫВОДЫ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713232" y="886968"/>
            <a:ext cx="1077163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ЗАКЛЮЧЕНИЕ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13232" y="1636776"/>
            <a:ext cx="1077163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79222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472184" y="1773936"/>
            <a:ext cx="10012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Существующие средства либо держат давление, но ставятся медленно и под один диаметр, либо быстрые, но без контроля и с ударом магнита о стенку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2478024"/>
            <a:ext cx="1077163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13232" y="263347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2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472184" y="2615184"/>
            <a:ext cx="10012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Предложена МВГП: немагнитная пластина с переключаемыми магнитами, вакуумной проверкой прилегания, полым конусом с отводом и контрольной полостью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" y="3319272"/>
            <a:ext cx="1077163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" y="34747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3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1472184" y="3456432"/>
            <a:ext cx="10012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Четыре магнита и вакуум закрывают течи в резервуарах и свищи до 13–16 мм на магистрали при 6,3 МПа; для крупных дефектов — стяжной ремень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3232" y="4160520"/>
            <a:ext cx="1077163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3232" y="431596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4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1472184" y="4297680"/>
            <a:ext cx="10012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Себестоимость комплекта ≈ 92 тыс. ₽, цена ≈ 129 тыс. ₽; одна течь Ø10 мм сохраняет 0,4–0,65 млн ₽ нефти; проект (≈ 3 млн ₽) окупается за ≈ 2 года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13232" y="5001768"/>
            <a:ext cx="1077163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13232" y="515721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</a:rPr>
              <a:t>5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472184" y="5138928"/>
            <a:ext cx="10012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Устройство ставится без огневых работ и зачистки до металла; следующий шаг — моделирование, прототип и испытания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13232" y="5843016"/>
            <a:ext cx="10771632" cy="0"/>
          </a:xfrm>
          <a:prstGeom prst="line">
            <a:avLst/>
          </a:prstGeom>
          <a:noFill/>
          <a:ln w="12700">
            <a:solidFill>
              <a:schemeClr val="accent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13264" y="6236208"/>
            <a:ext cx="1371600" cy="23774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Вид на кампус ДВФУ на острове Русский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828032"/>
            <a:ext cx="8001000" cy="85953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76656" y="4828032"/>
            <a:ext cx="7196328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СПАСИБО ЗА ВНИМАНИЕ!</a:t>
            </a:r>
            <a:endParaRPr lang="en-US" sz="3000" dirty="0"/>
          </a:p>
        </p:txBody>
      </p:sp>
      <p:pic>
        <p:nvPicPr>
          <p:cNvPr id="5" name="Image 1" descr="Логотип ДВФУ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2952" y="4800600"/>
            <a:ext cx="1527048" cy="9482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VFU Blue">
  <a:themeElements>
    <a:clrScheme name="DVFU Blue">
      <a:dk1>
        <a:srgbClr val="1A1A1A"/>
      </a:dk1>
      <a:lt1>
        <a:srgbClr val="FFFFFF"/>
      </a:lt1>
      <a:dk2>
        <a:srgbClr val="023A84"/>
      </a:dk2>
      <a:lt2>
        <a:srgbClr val="F3F6FA"/>
      </a:lt2>
      <a:accent1>
        <a:srgbClr val="023A84"/>
      </a:accent1>
      <a:accent2>
        <a:srgbClr val="0074BD"/>
      </a:accent2>
      <a:accent3>
        <a:srgbClr val="3C90DC"/>
      </a:accent3>
      <a:accent4>
        <a:srgbClr val="DCE9F5"/>
      </a:accent4>
      <a:accent5>
        <a:srgbClr val="C9D6E6"/>
      </a:accent5>
      <a:accent6>
        <a:srgbClr val="4A4F57"/>
      </a:accent6>
      <a:hlink>
        <a:srgbClr val="0074BD"/>
      </a:hlink>
      <a:folHlink>
        <a:srgbClr val="023A84"/>
      </a:folHlink>
    </a:clrScheme>
    <a:fontScheme name="DVFU Bl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ДВФУ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МВГП — магнитно-вакуумная герметизирующая пластина</dc:title>
  <dc:subject>PptxGenJS Presentation</dc:subject>
  <dc:creator>Архипов В.В.</dc:creator>
  <cp:lastModifiedBy>Архипов В.В.</cp:lastModifiedBy>
  <cp:revision>1</cp:revision>
  <dcterms:created xsi:type="dcterms:W3CDTF">2026-10-05T11:12:34Z</dcterms:created>
  <dcterms:modified xsi:type="dcterms:W3CDTF">2026-10-05T11:12:34Z</dcterms:modified>
</cp:coreProperties>
</file>